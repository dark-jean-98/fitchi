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Mono Medium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Roboto Medium"/>
      <p:regular r:id="rId28"/>
      <p:bold r:id="rId29"/>
      <p:italic r:id="rId30"/>
      <p:boldItalic r:id="rId31"/>
    </p:embeddedFon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Medium-regular.fntdata"/><Relationship Id="rId22" Type="http://schemas.openxmlformats.org/officeDocument/2006/relationships/font" Target="fonts/RobotoMonoMedium-italic.fntdata"/><Relationship Id="rId21" Type="http://schemas.openxmlformats.org/officeDocument/2006/relationships/font" Target="fonts/RobotoMonoMedium-bold.fntdata"/><Relationship Id="rId24" Type="http://schemas.openxmlformats.org/officeDocument/2006/relationships/font" Target="fonts/Roboto-regular.fntdata"/><Relationship Id="rId23" Type="http://schemas.openxmlformats.org/officeDocument/2006/relationships/font" Target="fonts/RobotoMono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obotoMedium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edium-boldItalic.fntdata"/><Relationship Id="rId30" Type="http://schemas.openxmlformats.org/officeDocument/2006/relationships/font" Target="fonts/RobotoMedium-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bold.fntdata"/><Relationship Id="rId10" Type="http://schemas.openxmlformats.org/officeDocument/2006/relationships/slide" Target="slides/slide5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520a8da9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520a8da9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520a8da9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520a8da9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520a8da96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520a8da96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ad3e9c11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ad3e9c11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536a9446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536a9446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e2bb4672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e2bb4672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536a9446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536a9446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536a9446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536a9446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536a9446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536a9446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536a9446a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536a9446a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536a9446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8536a9446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536a9446a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8536a9446a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536a9446a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8536a9446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10" Type="http://schemas.openxmlformats.org/officeDocument/2006/relationships/image" Target="../media/image22.png"/><Relationship Id="rId9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1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7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11" Type="http://schemas.openxmlformats.org/officeDocument/2006/relationships/image" Target="../media/image15.png"/><Relationship Id="rId10" Type="http://schemas.openxmlformats.org/officeDocument/2006/relationships/image" Target="../media/image17.png"/><Relationship Id="rId12" Type="http://schemas.openxmlformats.org/officeDocument/2006/relationships/image" Target="../media/image16.png"/><Relationship Id="rId9" Type="http://schemas.openxmlformats.org/officeDocument/2006/relationships/image" Target="../media/image11.png"/><Relationship Id="rId5" Type="http://schemas.openxmlformats.org/officeDocument/2006/relationships/image" Target="../media/image26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13"/>
            <a:ext cx="9144000" cy="5143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6138" y="1485348"/>
            <a:ext cx="4471725" cy="217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13"/>
            <a:ext cx="9144000" cy="5143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5F5F1"/>
              </a:solidFill>
            </a:endParaRPr>
          </a:p>
        </p:txBody>
      </p:sp>
      <p:pic>
        <p:nvPicPr>
          <p:cNvPr id="62" name="Google Shape;62;p14" title="path2498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87500" y="486600"/>
            <a:ext cx="169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Roboto Mono"/>
                <a:ea typeface="Roboto Mono"/>
                <a:cs typeface="Roboto Mono"/>
                <a:sym typeface="Roboto Mono"/>
              </a:rPr>
              <a:t>Jean </a:t>
            </a:r>
            <a:r>
              <a:rPr b="1" lang="es" sz="1500">
                <a:latin typeface="Roboto Mono"/>
                <a:ea typeface="Roboto Mono"/>
                <a:cs typeface="Roboto Mono"/>
                <a:sym typeface="Roboto Mono"/>
              </a:rPr>
              <a:t>Castillo</a:t>
            </a:r>
            <a:endParaRPr b="1" sz="1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87500" y="809700"/>
            <a:ext cx="4604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Roboto"/>
                <a:ea typeface="Roboto"/>
                <a:cs typeface="Roboto"/>
                <a:sym typeface="Roboto"/>
              </a:rPr>
              <a:t>(PO - UX/UI - Desarrollador)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Roboto"/>
                <a:ea typeface="Roboto"/>
                <a:cs typeface="Roboto"/>
                <a:sym typeface="Roboto"/>
              </a:rPr>
              <a:t>(Planificación del proyecto -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Documentación Técnica - </a:t>
            </a:r>
            <a:r>
              <a:rPr lang="es" sz="1500">
                <a:latin typeface="Roboto"/>
                <a:ea typeface="Roboto"/>
                <a:cs typeface="Roboto"/>
                <a:sym typeface="Roboto"/>
              </a:rPr>
              <a:t>Diseño UX/UI</a:t>
            </a:r>
            <a:r>
              <a:rPr lang="es" sz="1500">
                <a:latin typeface="Roboto"/>
                <a:ea typeface="Roboto"/>
                <a:cs typeface="Roboto"/>
                <a:sym typeface="Roboto"/>
              </a:rPr>
              <a:t>)   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" name="Google Shape;65;p14"/>
          <p:cNvCxnSpPr/>
          <p:nvPr/>
        </p:nvCxnSpPr>
        <p:spPr>
          <a:xfrm>
            <a:off x="215550" y="577950"/>
            <a:ext cx="0" cy="9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" name="Google Shape;66;p14"/>
          <p:cNvSpPr txBox="1"/>
          <p:nvPr/>
        </p:nvSpPr>
        <p:spPr>
          <a:xfrm>
            <a:off x="387500" y="2092850"/>
            <a:ext cx="188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Roboto Mono"/>
                <a:ea typeface="Roboto Mono"/>
                <a:cs typeface="Roboto Mono"/>
                <a:sym typeface="Roboto Mono"/>
              </a:rPr>
              <a:t>Carlos Illanes</a:t>
            </a:r>
            <a:endParaRPr b="1" sz="1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87500" y="2415950"/>
            <a:ext cx="5452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Roboto"/>
                <a:ea typeface="Roboto"/>
                <a:cs typeface="Roboto"/>
                <a:sym typeface="Roboto"/>
              </a:rPr>
              <a:t>(Scrum Master - Arquitecto de Software - Desarrollador )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Roboto"/>
                <a:ea typeface="Roboto"/>
                <a:cs typeface="Roboto"/>
                <a:sym typeface="Roboto"/>
              </a:rPr>
              <a:t>(Diseño de Arquitectura - Documentación Técnica -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Desarrollo Full Stack</a:t>
            </a:r>
            <a:r>
              <a:rPr lang="es" sz="1500">
                <a:latin typeface="Roboto"/>
                <a:ea typeface="Roboto"/>
                <a:cs typeface="Roboto"/>
                <a:sym typeface="Roboto"/>
              </a:rPr>
              <a:t> )  </a:t>
            </a:r>
            <a:r>
              <a:rPr lang="es" sz="1500">
                <a:latin typeface="Roboto"/>
                <a:ea typeface="Roboto"/>
                <a:cs typeface="Roboto"/>
                <a:sym typeface="Roboto"/>
              </a:rPr>
              <a:t> 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" name="Google Shape;68;p14"/>
          <p:cNvCxnSpPr/>
          <p:nvPr/>
        </p:nvCxnSpPr>
        <p:spPr>
          <a:xfrm>
            <a:off x="215550" y="2184200"/>
            <a:ext cx="0" cy="9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9" name="Google Shape;69;p14" title="a2903250-cc2f-4335-b772-60d98ed8fc05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387500" y="3607750"/>
            <a:ext cx="3317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Roboto Mono"/>
                <a:ea typeface="Roboto Mono"/>
                <a:cs typeface="Roboto Mono"/>
                <a:sym typeface="Roboto Mono"/>
              </a:rPr>
              <a:t>Joaquin Hernandez</a:t>
            </a:r>
            <a:endParaRPr b="1" sz="1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87500" y="3930850"/>
            <a:ext cx="5452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b="1" lang="es" sz="1500">
                <a:latin typeface="Roboto"/>
                <a:ea typeface="Roboto"/>
                <a:cs typeface="Roboto"/>
                <a:sym typeface="Roboto"/>
              </a:rPr>
              <a:t>Data Engineer - Integración - 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Desarrollador</a:t>
            </a:r>
            <a:r>
              <a:rPr b="1" lang="es" sz="1500">
                <a:latin typeface="Roboto"/>
                <a:ea typeface="Roboto"/>
                <a:cs typeface="Roboto"/>
                <a:sym typeface="Roboto"/>
              </a:rPr>
              <a:t>)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Desarrollo Full Stack</a:t>
            </a:r>
            <a:r>
              <a:rPr lang="es" sz="1500">
                <a:latin typeface="Roboto"/>
                <a:ea typeface="Roboto"/>
                <a:cs typeface="Roboto"/>
                <a:sym typeface="Roboto"/>
              </a:rPr>
              <a:t> - Integración Backend/Frontend - Diseño y gestión de flujos de datos)</a:t>
            </a:r>
            <a:r>
              <a:rPr lang="es" sz="1500">
                <a:latin typeface="Roboto"/>
                <a:ea typeface="Roboto"/>
                <a:cs typeface="Roboto"/>
                <a:sym typeface="Roboto"/>
              </a:rPr>
              <a:t>  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" name="Google Shape;72;p14"/>
          <p:cNvCxnSpPr/>
          <p:nvPr/>
        </p:nvCxnSpPr>
        <p:spPr>
          <a:xfrm>
            <a:off x="215550" y="3699100"/>
            <a:ext cx="0" cy="9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0" y="2322725"/>
            <a:ext cx="9144000" cy="2820600"/>
          </a:xfrm>
          <a:prstGeom prst="rect">
            <a:avLst/>
          </a:prstGeom>
          <a:solidFill>
            <a:srgbClr val="212121"/>
          </a:solidFill>
          <a:ln cap="flat" cmpd="sng" w="9525">
            <a:solidFill>
              <a:srgbClr val="22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9694550" y="3343668"/>
            <a:ext cx="23037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</a:rPr>
              <a:t>Muchas personas tienen dificultades para </a:t>
            </a:r>
            <a:r>
              <a:rPr b="1" lang="es" sz="1300">
                <a:solidFill>
                  <a:schemeClr val="dk1"/>
                </a:solidFill>
              </a:rPr>
              <a:t>llevar un estilo de vida saludable</a:t>
            </a:r>
            <a:r>
              <a:rPr lang="es" sz="1300">
                <a:solidFill>
                  <a:schemeClr val="dk1"/>
                </a:solidFill>
              </a:rPr>
              <a:t>, ya que los planes de entrenamiento y nutrición suelen ser </a:t>
            </a:r>
            <a:r>
              <a:rPr b="1" lang="es" sz="1300">
                <a:solidFill>
                  <a:schemeClr val="dk1"/>
                </a:solidFill>
              </a:rPr>
              <a:t>genéricos</a:t>
            </a:r>
            <a:r>
              <a:rPr lang="es" sz="1300">
                <a:solidFill>
                  <a:schemeClr val="dk1"/>
                </a:solidFill>
              </a:rPr>
              <a:t> y no consideran sus </a:t>
            </a:r>
            <a:r>
              <a:rPr b="1" lang="es" sz="1300">
                <a:solidFill>
                  <a:schemeClr val="dk1"/>
                </a:solidFill>
              </a:rPr>
              <a:t>objetivos personales, enfermedades, restricciones alimenticias ni preferencias</a:t>
            </a:r>
            <a:r>
              <a:rPr lang="es" sz="1300">
                <a:solidFill>
                  <a:schemeClr val="dk1"/>
                </a:solidFill>
              </a:rPr>
              <a:t>.</a:t>
            </a:r>
            <a:br>
              <a:rPr lang="e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</a:rPr>
              <a:t>Esto genera </a:t>
            </a:r>
            <a:r>
              <a:rPr b="1" lang="es" sz="1300">
                <a:solidFill>
                  <a:schemeClr val="dk1"/>
                </a:solidFill>
              </a:rPr>
              <a:t>frustración, desmotivación</a:t>
            </a:r>
            <a:r>
              <a:rPr lang="es" sz="1300">
                <a:solidFill>
                  <a:schemeClr val="dk1"/>
                </a:solidFill>
              </a:rPr>
              <a:t> y, en muchos casos, abandono de los hábitos saludables.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9564213" y="-1367825"/>
            <a:ext cx="3000000" cy="47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Desarrollar una aplicación móvil llamada </a:t>
            </a:r>
            <a:r>
              <a:rPr b="1" lang="es" sz="1100">
                <a:solidFill>
                  <a:schemeClr val="dk1"/>
                </a:solidFill>
              </a:rPr>
              <a:t>FitChi</a:t>
            </a:r>
            <a:r>
              <a:rPr lang="es" sz="1100">
                <a:solidFill>
                  <a:schemeClr val="dk1"/>
                </a:solidFill>
              </a:rPr>
              <a:t> que combine </a:t>
            </a:r>
            <a:r>
              <a:rPr b="1" lang="es" sz="1100">
                <a:solidFill>
                  <a:schemeClr val="dk1"/>
                </a:solidFill>
              </a:rPr>
              <a:t>planes de entrenamiento y nutrición personalizados</a:t>
            </a:r>
            <a:r>
              <a:rPr lang="es" sz="1100">
                <a:solidFill>
                  <a:schemeClr val="dk1"/>
                </a:solidFill>
              </a:rPr>
              <a:t> con un </a:t>
            </a:r>
            <a:r>
              <a:rPr b="1" lang="es" sz="1100">
                <a:solidFill>
                  <a:schemeClr val="dk1"/>
                </a:solidFill>
              </a:rPr>
              <a:t>asistente virtual inteligente</a:t>
            </a:r>
            <a:r>
              <a:rPr lang="es" sz="1100">
                <a:solidFill>
                  <a:schemeClr val="dk1"/>
                </a:solidFill>
              </a:rPr>
              <a:t>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El asistente filtra recomendaciones según: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</a:rPr>
              <a:t>Perfil del usuario (edad, peso, nivel, objetivo).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</a:rPr>
              <a:t>Enfermedades o condiciones de salud (ejemplo: diabetes, hipertensión).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</a:rPr>
              <a:t>Restricciones y preferencias alimenticias.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Entrega planes y menús adaptados en </a:t>
            </a:r>
            <a:r>
              <a:rPr b="1" lang="es" sz="1100">
                <a:solidFill>
                  <a:schemeClr val="dk1"/>
                </a:solidFill>
              </a:rPr>
              <a:t>lenguaje natural</a:t>
            </a:r>
            <a:r>
              <a:rPr lang="es" sz="1100">
                <a:solidFill>
                  <a:schemeClr val="dk1"/>
                </a:solidFill>
              </a:rPr>
              <a:t>, respondiendo preguntas como: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s" sz="1100">
                <a:solidFill>
                  <a:schemeClr val="dk1"/>
                </a:solidFill>
              </a:rPr>
              <a:t>“¿Qué puedo desayunar si soy diabético y no me gusta el pescado?”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Incluye </a:t>
            </a:r>
            <a:r>
              <a:rPr b="1" lang="es" sz="1100">
                <a:solidFill>
                  <a:schemeClr val="dk1"/>
                </a:solidFill>
              </a:rPr>
              <a:t>seguimiento de progreso semanal</a:t>
            </a:r>
            <a:r>
              <a:rPr lang="es" sz="1100">
                <a:solidFill>
                  <a:schemeClr val="dk1"/>
                </a:solidFill>
              </a:rPr>
              <a:t> y la posibilidad de integrar analítica para mejorar recomendaciones futuras.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81" name="Google Shape;81;p15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108100" y="94000"/>
            <a:ext cx="4810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DESCRIPCIÓN DEL PROYECTO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108100" y="837875"/>
            <a:ext cx="65241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PROBLEMA O DOLOR</a:t>
            </a:r>
            <a:endParaRPr sz="1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Muchas personas abandonan hábitos saludables porque los planes de entrenamiento y nutrición son genéricos y no consideran condiciones médicas, restricciones o preferencias.</a:t>
            </a:r>
            <a:endParaRPr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263225" y="2538550"/>
            <a:ext cx="3369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Planes y menús personalizados.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3263225" y="3059250"/>
            <a:ext cx="336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Lenguaje natural: responde dudas (“¿Qué puedo desayunar si soy diabético?”).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3263225" y="3780050"/>
            <a:ext cx="3369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Seguimiento de progreso + analítica.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87" name="Google Shape;87;p15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108100" y="2559000"/>
            <a:ext cx="26370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PROPUESTA DE SOLUCIÓN</a:t>
            </a:r>
            <a:endParaRPr sz="1300">
              <a:solidFill>
                <a:schemeClr val="l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FitChi es una app que personaliza nutrición con un asistente virtual inteligente que adapta recomendaciones según perfil, salud y preferencias.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 rotWithShape="1">
          <a:blip r:embed="rId5">
            <a:alphaModFix/>
          </a:blip>
          <a:srcRect b="28469" l="19871" r="37975" t="8251"/>
          <a:stretch/>
        </p:blipFill>
        <p:spPr>
          <a:xfrm>
            <a:off x="7323313" y="1598425"/>
            <a:ext cx="1549800" cy="1549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pic>
        <p:nvPicPr>
          <p:cNvPr id="95" name="Google Shape;95;p16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/>
        </p:nvSpPr>
        <p:spPr>
          <a:xfrm>
            <a:off x="511813" y="1512975"/>
            <a:ext cx="3297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OBJETIVO GENERAL</a:t>
            </a:r>
            <a:endParaRPr sz="1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4423188" y="1512975"/>
            <a:ext cx="420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OBJETIVOS ESPECÍFICOS</a:t>
            </a:r>
            <a:endParaRPr sz="1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11813" y="2111175"/>
            <a:ext cx="3101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Promover hábitos saludables</a:t>
            </a:r>
            <a:r>
              <a:rPr lang="es" sz="1100">
                <a:solidFill>
                  <a:schemeClr val="dk1"/>
                </a:solidFill>
              </a:rPr>
              <a:t> mediante una aplicación móvil que ofrezca planes de nutrición personalizados y un asistente virtual capaz de entregar recomendaciones adaptadas a las características, restricciones y preferencias de cada usuario.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4423188" y="2111175"/>
            <a:ext cx="39099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Desarrollar un modelo nutricional personalizado</a:t>
            </a:r>
            <a:r>
              <a:rPr lang="es" sz="1100">
                <a:solidFill>
                  <a:schemeClr val="dk1"/>
                </a:solidFill>
              </a:rPr>
              <a:t> basado en datos y objetivos individuales de los usuarios.</a:t>
            </a:r>
            <a:endParaRPr sz="1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Diseñar e implementar un sistema que consolide datos antropométricos y nutricionales</a:t>
            </a:r>
            <a:r>
              <a:rPr lang="es" sz="1100">
                <a:solidFill>
                  <a:schemeClr val="dk1"/>
                </a:solidFill>
              </a:rPr>
              <a:t>, permitiendo su análisis y uso para generar nutrición personalizada.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Establecer un proceso automatizado de generación de planes alimenticios</a:t>
            </a:r>
            <a:r>
              <a:rPr lang="es" sz="1100">
                <a:solidFill>
                  <a:schemeClr val="dk1"/>
                </a:solidFill>
              </a:rPr>
              <a:t>, basado en criterios nutricionales validados y orientado a mejorar los hábitos de los usuarios.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pic>
        <p:nvPicPr>
          <p:cNvPr id="106" name="Google Shape;106;p17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/>
          <p:nvPr/>
        </p:nvSpPr>
        <p:spPr>
          <a:xfrm>
            <a:off x="209875" y="94000"/>
            <a:ext cx="4014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ALCANCE DEL PROYECTO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05400" y="1242213"/>
            <a:ext cx="3091200" cy="646500"/>
          </a:xfrm>
          <a:prstGeom prst="roundRect">
            <a:avLst>
              <a:gd fmla="val 16667" name="adj"/>
            </a:avLst>
          </a:prstGeom>
          <a:solidFill>
            <a:srgbClr val="21212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1F1F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351000" y="1193766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Permitir el registro de perfil a los usuarios (edad, peso, medidas, objetivo, nivel, enfermedades, gustos y restricciones).</a:t>
            </a:r>
            <a:endParaRPr sz="1300">
              <a:solidFill>
                <a:srgbClr val="F5F5F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305400" y="2046999"/>
            <a:ext cx="3091200" cy="569400"/>
          </a:xfrm>
          <a:prstGeom prst="roundRect">
            <a:avLst>
              <a:gd fmla="val 16667" name="adj"/>
            </a:avLst>
          </a:prstGeom>
          <a:solidFill>
            <a:srgbClr val="21212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1F1F"/>
              </a:solidFill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351000" y="2053401"/>
            <a:ext cx="2899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Entregar menús de alimentación personalizados.</a:t>
            </a:r>
            <a:endParaRPr>
              <a:solidFill>
                <a:srgbClr val="F5F5F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305400" y="2766787"/>
            <a:ext cx="3091200" cy="743400"/>
          </a:xfrm>
          <a:prstGeom prst="roundRect">
            <a:avLst>
              <a:gd fmla="val 16667" name="adj"/>
            </a:avLst>
          </a:prstGeom>
          <a:solidFill>
            <a:srgbClr val="21212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1F1F"/>
              </a:solidFill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351000" y="2783063"/>
            <a:ext cx="28995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Interactuar con la IA y que sea capaz de responder preguntas relacionadas con los menús.</a:t>
            </a:r>
            <a:endParaRPr sz="1500">
              <a:solidFill>
                <a:srgbClr val="F5F5F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5">
            <a:alphaModFix/>
          </a:blip>
          <a:srcRect b="-79765" l="100000" r="100000" t="17243"/>
          <a:stretch/>
        </p:blipFill>
        <p:spPr>
          <a:xfrm>
            <a:off x="4871025" y="1193775"/>
            <a:ext cx="3212250" cy="32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 rotWithShape="1">
          <a:blip r:embed="rId6">
            <a:alphaModFix/>
          </a:blip>
          <a:srcRect b="-2079" l="-3404" r="16553" t="-25471"/>
          <a:stretch/>
        </p:blipFill>
        <p:spPr>
          <a:xfrm>
            <a:off x="4871025" y="1303975"/>
            <a:ext cx="3212250" cy="314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 rot="409010">
            <a:off x="4798638" y="3267474"/>
            <a:ext cx="3369117" cy="1454203"/>
          </a:xfrm>
          <a:prstGeom prst="rect">
            <a:avLst/>
          </a:prstGeom>
          <a:solidFill>
            <a:srgbClr val="F5F5F1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 rotWithShape="1">
          <a:blip r:embed="rId7">
            <a:alphaModFix/>
          </a:blip>
          <a:srcRect b="35881" l="4683" r="896" t="-20930"/>
          <a:stretch/>
        </p:blipFill>
        <p:spPr>
          <a:xfrm>
            <a:off x="4871025" y="2851325"/>
            <a:ext cx="3212250" cy="162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/>
          <p:nvPr/>
        </p:nvSpPr>
        <p:spPr>
          <a:xfrm>
            <a:off x="305400" y="3693138"/>
            <a:ext cx="3091200" cy="691500"/>
          </a:xfrm>
          <a:prstGeom prst="roundRect">
            <a:avLst>
              <a:gd fmla="val 16667" name="adj"/>
            </a:avLst>
          </a:prstGeom>
          <a:solidFill>
            <a:srgbClr val="21212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1F1F"/>
              </a:solidFill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351000" y="3677513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Calendario de seguimiento del progreso mediante métricas, gráficos y registros semanales.</a:t>
            </a:r>
            <a:endParaRPr>
              <a:solidFill>
                <a:srgbClr val="F5F5F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F5F5F5"/>
                </a:highlight>
              </a:rPr>
              <a:t>         </a:t>
            </a:r>
            <a:endParaRPr>
              <a:highlight>
                <a:srgbClr val="F5F5F5"/>
              </a:highlight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209875" y="1383225"/>
            <a:ext cx="4362000" cy="1035600"/>
          </a:xfrm>
          <a:prstGeom prst="roundRect">
            <a:avLst>
              <a:gd fmla="val 16667" name="adj"/>
            </a:avLst>
          </a:prstGeom>
          <a:solidFill>
            <a:srgbClr val="21212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1F1F"/>
              </a:solidFill>
            </a:endParaRPr>
          </a:p>
        </p:txBody>
      </p:sp>
      <p:pic>
        <p:nvPicPr>
          <p:cNvPr id="127" name="Google Shape;127;p18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/>
          <p:nvPr/>
        </p:nvSpPr>
        <p:spPr>
          <a:xfrm>
            <a:off x="209875" y="94000"/>
            <a:ext cx="4970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LIMITACIONES DEL PROYECTO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1055350" y="1480575"/>
            <a:ext cx="3369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Sin integración externa: La aplicación no incluirá integración con wearables (relojes, pulseras) ni con otras aplicaciones de fitness.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" name="Google Shape;131;p18" title="smartwatch-y-movil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975" y="1480575"/>
            <a:ext cx="743375" cy="74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209875" y="2571750"/>
            <a:ext cx="4362000" cy="1522200"/>
          </a:xfrm>
          <a:prstGeom prst="roundRect">
            <a:avLst>
              <a:gd fmla="val 16667" name="adj"/>
            </a:avLst>
          </a:prstGeom>
          <a:solidFill>
            <a:srgbClr val="21212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1F1F"/>
              </a:solidFill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1055350" y="2571750"/>
            <a:ext cx="33690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Disponibilidad plataforma: La aplicación tendrá compatibilidad tanto en Android como iOS. Sin embargo, en esta fase del proyecto todas las pruebas y validaciones se realizarán únicamente en dispositivos Android, por lo que no se garantiza el correcto funcionamiento en iOS hasta fases posteriores.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18" title="logotipo-de-apple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975" y="2961150"/>
            <a:ext cx="743375" cy="74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/>
          <p:nvPr/>
        </p:nvSpPr>
        <p:spPr>
          <a:xfrm>
            <a:off x="4636450" y="1383225"/>
            <a:ext cx="4362000" cy="1035600"/>
          </a:xfrm>
          <a:prstGeom prst="roundRect">
            <a:avLst>
              <a:gd fmla="val 16667" name="adj"/>
            </a:avLst>
          </a:prstGeom>
          <a:solidFill>
            <a:srgbClr val="21212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1F1F"/>
              </a:solidFill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5621725" y="1383213"/>
            <a:ext cx="33690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Alcance geográfico y cultural limitado: En esta primera versión, los planes y recetas estarán adaptados únicamente al contexto de Chile, utilizando idioma y terminología local.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18" title="tierra (1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6250" y="1480575"/>
            <a:ext cx="743375" cy="7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/>
          <p:nvPr/>
        </p:nvSpPr>
        <p:spPr>
          <a:xfrm>
            <a:off x="-1246925" y="94000"/>
            <a:ext cx="10390800" cy="5143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pic>
        <p:nvPicPr>
          <p:cNvPr id="143" name="Google Shape;143;p19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209875" y="94000"/>
            <a:ext cx="4425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METODOLOGÍA DE TRABAJO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3601650" y="4659025"/>
            <a:ext cx="233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Gráficos de composición corporal</a:t>
            </a:r>
            <a:endParaRPr sz="1300">
              <a:solidFill>
                <a:srgbClr val="F5F5F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5373484" y="1154875"/>
            <a:ext cx="3031800" cy="1024200"/>
          </a:xfrm>
          <a:prstGeom prst="roundRect">
            <a:avLst>
              <a:gd fmla="val 16667" name="adj"/>
            </a:avLst>
          </a:prstGeom>
          <a:solidFill>
            <a:srgbClr val="21212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1F1F"/>
              </a:solidFill>
            </a:endParaRPr>
          </a:p>
        </p:txBody>
      </p:sp>
      <p:pic>
        <p:nvPicPr>
          <p:cNvPr id="148" name="Google Shape;148;p19" title="estrategi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4684" y="1323974"/>
            <a:ext cx="672200" cy="6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6386884" y="1374463"/>
            <a:ext cx="201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Sprint </a:t>
            </a:r>
            <a:r>
              <a:rPr lang="es" sz="15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Backlog</a:t>
            </a:r>
            <a:endParaRPr sz="1500">
              <a:solidFill>
                <a:srgbClr val="F5F5F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BB6A"/>
                </a:solidFill>
                <a:latin typeface="Roboto"/>
                <a:ea typeface="Roboto"/>
                <a:cs typeface="Roboto"/>
                <a:sym typeface="Roboto"/>
              </a:rPr>
              <a:t>Sprint de 2 semanas (5 total)</a:t>
            </a:r>
            <a:endParaRPr sz="1100">
              <a:solidFill>
                <a:srgbClr val="66BB6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5373484" y="2304925"/>
            <a:ext cx="3031800" cy="1024200"/>
          </a:xfrm>
          <a:prstGeom prst="roundRect">
            <a:avLst>
              <a:gd fmla="val 16667" name="adj"/>
            </a:avLst>
          </a:prstGeom>
          <a:solidFill>
            <a:srgbClr val="21212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1F1F"/>
              </a:solidFill>
            </a:endParaRPr>
          </a:p>
        </p:txBody>
      </p:sp>
      <p:pic>
        <p:nvPicPr>
          <p:cNvPr id="151" name="Google Shape;151;p19" title="reunion-de-grup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4684" y="2480925"/>
            <a:ext cx="672200" cy="6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6386884" y="2524513"/>
            <a:ext cx="2018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Daily Scrum</a:t>
            </a:r>
            <a:endParaRPr sz="1100">
              <a:solidFill>
                <a:srgbClr val="66BB6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98951" y="3960050"/>
            <a:ext cx="1664000" cy="7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/>
          <p:nvPr/>
        </p:nvSpPr>
        <p:spPr>
          <a:xfrm>
            <a:off x="3909847" y="1154875"/>
            <a:ext cx="1321800" cy="2181300"/>
          </a:xfrm>
          <a:prstGeom prst="roundRect">
            <a:avLst>
              <a:gd fmla="val 16667" name="adj"/>
            </a:avLst>
          </a:prstGeom>
          <a:solidFill>
            <a:srgbClr val="21212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1F1F"/>
              </a:solidFill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4234597" y="2079725"/>
            <a:ext cx="672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Roles</a:t>
            </a:r>
            <a:endParaRPr sz="1100">
              <a:solidFill>
                <a:srgbClr val="66BB6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" name="Google Shape;156;p19" title="grupos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20559" y="1323687"/>
            <a:ext cx="700375" cy="7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/>
          <p:nvPr/>
        </p:nvSpPr>
        <p:spPr>
          <a:xfrm>
            <a:off x="1473888" y="1633075"/>
            <a:ext cx="1280700" cy="1224900"/>
          </a:xfrm>
          <a:prstGeom prst="ellipse">
            <a:avLst/>
          </a:prstGeom>
          <a:solidFill>
            <a:srgbClr val="221F1F"/>
          </a:solidFill>
          <a:ln cap="flat" cmpd="sng" w="9525">
            <a:solidFill>
              <a:srgbClr val="22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66BB6A"/>
                </a:solidFill>
                <a:latin typeface="Roboto"/>
                <a:ea typeface="Roboto"/>
                <a:cs typeface="Roboto"/>
                <a:sym typeface="Roboto"/>
              </a:rPr>
              <a:t>Product Backlog</a:t>
            </a:r>
            <a:endParaRPr sz="1500">
              <a:solidFill>
                <a:srgbClr val="66BB6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601750" y="1521363"/>
            <a:ext cx="7974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Perfil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1198950" y="1124800"/>
            <a:ext cx="1830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Menú adaptativo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2829350" y="1521376"/>
            <a:ext cx="7974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Metas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2829350" y="2149593"/>
            <a:ext cx="1116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Seguimiento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209875" y="2149581"/>
            <a:ext cx="1116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Calendario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2672550" y="2698175"/>
            <a:ext cx="1214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Personalización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334750" y="2698163"/>
            <a:ext cx="10644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Recordatorios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920250" y="3045250"/>
            <a:ext cx="23880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Respuestas contextualizadas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5373469" y="3481963"/>
            <a:ext cx="3031800" cy="1024200"/>
          </a:xfrm>
          <a:prstGeom prst="roundRect">
            <a:avLst>
              <a:gd fmla="val 16667" name="adj"/>
            </a:avLst>
          </a:prstGeom>
          <a:solidFill>
            <a:srgbClr val="21212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                    Retro</a:t>
            </a:r>
            <a:endParaRPr sz="1100">
              <a:solidFill>
                <a:srgbClr val="66BB6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19" title="bucle-de-retroalimentac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83818" y="3639275"/>
            <a:ext cx="709574" cy="70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-657775" y="3432525"/>
            <a:ext cx="5944494" cy="143855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F5F5F5"/>
                </a:highlight>
              </a:rPr>
              <a:t>                  </a:t>
            </a:r>
            <a:endParaRPr>
              <a:highlight>
                <a:srgbClr val="F5F5F5"/>
              </a:highlight>
            </a:endParaRPr>
          </a:p>
        </p:txBody>
      </p:sp>
      <p:pic>
        <p:nvPicPr>
          <p:cNvPr id="174" name="Google Shape;174;p20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181575" y="0"/>
            <a:ext cx="4425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RELEASE PLAN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176" name="Google Shape;176;p20" title="Release-release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350" y="653308"/>
            <a:ext cx="8777298" cy="4525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title="path24985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-326000" y="-3325"/>
            <a:ext cx="9144000" cy="5143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pic>
        <p:nvPicPr>
          <p:cNvPr id="183" name="Google Shape;183;p21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209875" y="94000"/>
            <a:ext cx="483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ARQUITECTURA DE SOFTWARE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185" name="Google Shape;185;p21" title="Arquitectura-Arquitectura 2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975" y="731150"/>
            <a:ext cx="8492026" cy="3674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 title="path24985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pic>
        <p:nvPicPr>
          <p:cNvPr id="192" name="Google Shape;192;p22" title="path2498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 title="a2903250-cc2f-4335-b772-60d98ed8fc05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209875" y="94000"/>
            <a:ext cx="483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MODELO DE DATOS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195" name="Google Shape;195;p22" title="db_fitchi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9850" y="625175"/>
            <a:ext cx="5622749" cy="4295775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pic>
        <p:nvPicPr>
          <p:cNvPr id="201" name="Google Shape;201;p23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3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209875" y="94000"/>
            <a:ext cx="483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TECNOLOGÍAS UTILIZADAS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204" name="Google Shape;20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3369" y="1287375"/>
            <a:ext cx="1557576" cy="4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/>
          <p:cNvPicPr preferRelativeResize="0"/>
          <p:nvPr/>
        </p:nvPicPr>
        <p:blipFill rotWithShape="1">
          <a:blip r:embed="rId6">
            <a:alphaModFix/>
          </a:blip>
          <a:srcRect b="36955" l="10065" r="8168" t="36511"/>
          <a:stretch/>
        </p:blipFill>
        <p:spPr>
          <a:xfrm>
            <a:off x="3384563" y="1307488"/>
            <a:ext cx="1869527" cy="404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27724" y="1307500"/>
            <a:ext cx="2101693" cy="40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9237" y="3411563"/>
            <a:ext cx="2160152" cy="341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22438" y="2340800"/>
            <a:ext cx="1219415" cy="51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01562" y="2238537"/>
            <a:ext cx="1435549" cy="717775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0" name="Google Shape;210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14587" y="3411575"/>
            <a:ext cx="1635115" cy="4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75950" y="2217288"/>
            <a:ext cx="1520525" cy="76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/>
          <p:nvPr/>
        </p:nvSpPr>
        <p:spPr>
          <a:xfrm>
            <a:off x="0" y="-16036"/>
            <a:ext cx="9144000" cy="5143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pic>
        <p:nvPicPr>
          <p:cNvPr id="217" name="Google Shape;217;p24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3305100" y="2287050"/>
            <a:ext cx="253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DEMOSTRACIÓN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1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Se desarrolló un sistema de nutrición personalizado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Capaz de calcular calorías y macronutrientes según los datos individuales de cada usuario.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Se implementó el módulo de perfil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Donde el usuario puede registrar edad, peso, altura, enfermedades y preferencias alimentarias.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Se consolidaron los datos antropométricos y nutricionales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En una base de datos unificada (Supabase) para análisis y seguimiento.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Se implementó un calendario y registro de progreso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Que permite visualizar métricas y evolución semanal del usuario.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Se obtuvo un MVP funcional y estable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Cumpliendo los objetivos propuestos y dejando la base para incorporar inteligencia artificial en futuras versiones.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25" name="Google Shape;225;p25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5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 txBox="1"/>
          <p:nvPr/>
        </p:nvSpPr>
        <p:spPr>
          <a:xfrm>
            <a:off x="209875" y="94000"/>
            <a:ext cx="483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RESULTADOS OBTENIDOS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1"/>
          </a:solidFill>
          <a:ln cap="flat" cmpd="sng" w="9525">
            <a:solidFill>
              <a:srgbClr val="F5F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Curva de aprendizaje técnica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Especialmente al integrar FastAPI y  Supabase.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Dificultades en la conexión entre backend y frontend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Que requirieron reestructurar parte del flujo de datos.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Gestión del diseño de interfaz (UI/UX)</a:t>
            </a:r>
            <a:r>
              <a:rPr lang="es" sz="1100">
                <a:solidFill>
                  <a:schemeClr val="dk1"/>
                </a:solidFill>
              </a:rPr>
              <a:t>: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Ajustes repetitivos para lograr una experiencia fluida y coherente.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Falta de datos reales de usuarios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Lo que obligó a usar información simulada para probar los cálculos nutricionales.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Dificultades con respuestas de la IA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Ajustes en los prompts para que la IA pudiera entregar mejores respuestas.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33" name="Google Shape;233;p26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6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6"/>
          <p:cNvSpPr txBox="1"/>
          <p:nvPr/>
        </p:nvSpPr>
        <p:spPr>
          <a:xfrm>
            <a:off x="209875" y="94000"/>
            <a:ext cx="483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OBSTÁCULOS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