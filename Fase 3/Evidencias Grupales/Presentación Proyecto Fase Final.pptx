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Medium" panose="020F0502020204030204" pitchFamily="2" charset="0"/>
      <p:regular r:id="rId21"/>
      <p:bold r:id="rId22"/>
      <p:italic r:id="rId23"/>
      <p:boldItalic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  <p:embeddedFont>
      <p:font typeface="Roboto Mono Medium" panose="020F0502020204030204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20a8da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20a8da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520a8da9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520a8da96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520a8da96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520a8da96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d3e9c11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ad3e9c11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536a9446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536a9446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e2bb4672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e2bb4672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536a9446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536a9446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536a9446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536a9446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536a9446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536a9446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536a9446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536a9446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536a9446a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536a9446a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536a9446a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536a9446a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536a9446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536a9446a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3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6138" y="1485348"/>
            <a:ext cx="4471725" cy="21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13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5F5F1"/>
              </a:solidFill>
            </a:endParaRPr>
          </a:p>
        </p:txBody>
      </p:sp>
      <p:pic>
        <p:nvPicPr>
          <p:cNvPr id="62" name="Google Shape;62;p14" title="path2498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87500" y="603498"/>
            <a:ext cx="1692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Roboto Mono"/>
                <a:ea typeface="Roboto Mono"/>
                <a:cs typeface="Roboto Mono"/>
                <a:sym typeface="Roboto Mono"/>
              </a:rPr>
              <a:t>Jean Castillo</a:t>
            </a:r>
            <a:endParaRPr sz="1500" b="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87500" y="926598"/>
            <a:ext cx="460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(PO - UX/UI - Desarrollador)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  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215550" y="577950"/>
            <a:ext cx="0" cy="92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" name="Google Shape;66;p14"/>
          <p:cNvSpPr txBox="1"/>
          <p:nvPr/>
        </p:nvSpPr>
        <p:spPr>
          <a:xfrm>
            <a:off x="387500" y="2225334"/>
            <a:ext cx="188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Roboto Mono"/>
                <a:ea typeface="Roboto Mono"/>
                <a:cs typeface="Roboto Mono"/>
                <a:sym typeface="Roboto Mono"/>
              </a:rPr>
              <a:t>Carlos Illanes</a:t>
            </a:r>
            <a:endParaRPr sz="1500" b="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7500" y="2548434"/>
            <a:ext cx="545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(Scrum Master - Arquitecto de Software - Desarrollador )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  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215550" y="2184200"/>
            <a:ext cx="0" cy="92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4" title="a2903250-cc2f-4335-b772-60d98ed8fc0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87500" y="3709061"/>
            <a:ext cx="3317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Roboto Mono"/>
                <a:ea typeface="Roboto Mono"/>
                <a:cs typeface="Roboto Mono"/>
                <a:sym typeface="Roboto Mono"/>
              </a:rPr>
              <a:t>Joaquin Hernandez</a:t>
            </a:r>
            <a:endParaRPr sz="1500" b="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87500" y="4032161"/>
            <a:ext cx="545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(Data Engineer - Integración - </a:t>
            </a:r>
            <a:r>
              <a:rPr lang="es" sz="1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Desarrollador</a:t>
            </a:r>
            <a:r>
              <a:rPr lang="es" sz="1500" b="1">
                <a:latin typeface="Roboto"/>
                <a:ea typeface="Roboto"/>
                <a:cs typeface="Roboto"/>
                <a:sym typeface="Roboto"/>
              </a:rPr>
              <a:t>)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Roboto"/>
                <a:ea typeface="Roboto"/>
                <a:cs typeface="Roboto"/>
                <a:sym typeface="Roboto"/>
              </a:rPr>
              <a:t> 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215550" y="3699100"/>
            <a:ext cx="0" cy="92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2322725"/>
            <a:ext cx="9144000" cy="2820600"/>
          </a:xfrm>
          <a:prstGeom prst="rect">
            <a:avLst/>
          </a:prstGeom>
          <a:solidFill>
            <a:srgbClr val="212121"/>
          </a:solidFill>
          <a:ln w="9525" cap="flat" cmpd="sng">
            <a:solidFill>
              <a:srgbClr val="22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5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08100" y="94000"/>
            <a:ext cx="4810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DESCRIPCIÓN DEL PROYECTO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08100" y="837875"/>
            <a:ext cx="65241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PROBLEMA O DOLOR</a:t>
            </a:r>
            <a:endParaRPr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Muchas personas abandonan sus planes de nutrición porque reciben recomendaciones genéricas, sin considerar objetivos personales ni preferencias. Esto genera frustración y falta de continuidad.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263225" y="2538550"/>
            <a:ext cx="3369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Planes y menús personalizados.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263225" y="3059250"/>
            <a:ext cx="3369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Lenguaje natural: responde dudas (“¿Qué puedo desayunar si soy diabético?”).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263225" y="3780050"/>
            <a:ext cx="3369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Seguimiento de progreso + analítica.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5" name="Google Shape;85;p15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108100" y="2559000"/>
            <a:ext cx="26370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PROPUESTA DE SOLUCIÓN</a:t>
            </a:r>
            <a:endParaRPr sz="13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FitChi es una app que personaliza nutrición con un asistente virtual inteligente que adapta recomendaciones según perfil, salud y preferencias.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5">
            <a:alphaModFix/>
          </a:blip>
          <a:srcRect l="19871" t="8251" r="37975" b="28469"/>
          <a:stretch/>
        </p:blipFill>
        <p:spPr>
          <a:xfrm>
            <a:off x="7323313" y="1598425"/>
            <a:ext cx="1549800" cy="1549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93" name="Google Shape;93;p16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4423188" y="2111175"/>
            <a:ext cx="3909900" cy="25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>
                <a:solidFill>
                  <a:schemeClr val="dk1"/>
                </a:solidFill>
              </a:rPr>
              <a:t>Ofrecer planes alimenticios personalizados            </a:t>
            </a:r>
            <a:r>
              <a:rPr lang="es" sz="1100">
                <a:solidFill>
                  <a:schemeClr val="dk1"/>
                </a:solidFill>
              </a:rPr>
              <a:t> Según objetivos y preferencias del usuario.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>
                <a:solidFill>
                  <a:schemeClr val="dk1"/>
                </a:solidFill>
              </a:rPr>
              <a:t>Hacer el seguimiento del progreso                      </a:t>
            </a:r>
            <a:r>
              <a:rPr lang="es" sz="1100">
                <a:solidFill>
                  <a:schemeClr val="dk1"/>
                </a:solidFill>
              </a:rPr>
              <a:t> Mediante registros y métricas.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dk1"/>
                </a:solidFill>
              </a:rPr>
              <a:t>Promover hábitos saludables sostenibles</a:t>
            </a:r>
            <a:r>
              <a:rPr lang="es" sz="1100">
                <a:solidFill>
                  <a:schemeClr val="dk1"/>
                </a:solidFill>
              </a:rPr>
              <a:t>                       A través de recordatorios y orientación continua.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dk1"/>
                </a:solidFill>
              </a:rPr>
              <a:t>Brindar recomendaciones claras en lenguaje natural</a:t>
            </a:r>
            <a:r>
              <a:rPr lang="es" sz="1100">
                <a:solidFill>
                  <a:schemeClr val="dk1"/>
                </a:solidFill>
              </a:rPr>
              <a:t> Para apoyar decisiones nutricionales diarias.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pic>
        <p:nvPicPr>
          <p:cNvPr id="95" name="Google Shape;95;p16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511813" y="1512975"/>
            <a:ext cx="3297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OBJETIVO GENERAL</a:t>
            </a:r>
            <a:endParaRPr sz="1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423188" y="1512975"/>
            <a:ext cx="420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OBJETIVOS ESPECÍFICOS</a:t>
            </a:r>
            <a:endParaRPr sz="1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11813" y="2111175"/>
            <a:ext cx="3101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" sz="1100" b="1">
                <a:solidFill>
                  <a:schemeClr val="dk1"/>
                </a:solidFill>
              </a:rPr>
              <a:t>Promover hábitos saludables</a:t>
            </a:r>
            <a:r>
              <a:rPr lang="es" sz="1100">
                <a:solidFill>
                  <a:schemeClr val="dk1"/>
                </a:solidFill>
              </a:rPr>
              <a:t> mediante una aplicación móvil que ofrezca planes de nutrición personalizados y un asistente virtual capaz de entregar recomendaciones adaptadas a las características, restricciones y preferencias de cada usuario.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04" name="Google Shape;104;p17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209875" y="94000"/>
            <a:ext cx="4014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ALCANCE DEL PROYECTO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05400" y="1242213"/>
            <a:ext cx="3091200" cy="6465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51000" y="1193766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Permitir el registro de perfil a los usuarios (edad, peso, medidas, objetivo, nivel, enfermedades, gustos y restricciones).</a:t>
            </a:r>
            <a:endParaRPr sz="13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05400" y="2046999"/>
            <a:ext cx="3091200" cy="5694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51000" y="2053401"/>
            <a:ext cx="2899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Entregar menús de alimentación personalizados.</a:t>
            </a:r>
            <a:endParaRPr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05400" y="2766787"/>
            <a:ext cx="3091200" cy="7434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351000" y="2783063"/>
            <a:ext cx="28995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Interactuar con la IA y que sea capaz de responder preguntas relacionadas con los menús.</a:t>
            </a:r>
            <a:endParaRPr sz="15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5">
            <a:alphaModFix/>
          </a:blip>
          <a:srcRect l="100000" t="17243" r="100000" b="-79765"/>
          <a:stretch/>
        </p:blipFill>
        <p:spPr>
          <a:xfrm>
            <a:off x="4871025" y="1193775"/>
            <a:ext cx="3212250" cy="32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 rotWithShape="1">
          <a:blip r:embed="rId6">
            <a:alphaModFix/>
          </a:blip>
          <a:srcRect l="-3404" t="-25471" r="16553" b="-2079"/>
          <a:stretch/>
        </p:blipFill>
        <p:spPr>
          <a:xfrm>
            <a:off x="4871025" y="1303975"/>
            <a:ext cx="3212250" cy="31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 rot="409010">
            <a:off x="4798638" y="3267474"/>
            <a:ext cx="3369117" cy="1454203"/>
          </a:xfrm>
          <a:prstGeom prst="rect">
            <a:avLst/>
          </a:prstGeom>
          <a:solidFill>
            <a:srgbClr val="F5F5F1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7">
            <a:alphaModFix/>
          </a:blip>
          <a:srcRect l="4683" t="-20930" r="896" b="35881"/>
          <a:stretch/>
        </p:blipFill>
        <p:spPr>
          <a:xfrm>
            <a:off x="4871025" y="2851325"/>
            <a:ext cx="3212250" cy="16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305400" y="3693138"/>
            <a:ext cx="3091200" cy="6915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51000" y="3677513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Calendario de seguimiento del progreso mediante métricas, gráficos y registros semanales.</a:t>
            </a:r>
            <a:endParaRPr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5F5F5"/>
                </a:highlight>
              </a:rPr>
              <a:t>         </a:t>
            </a:r>
            <a:endParaRPr>
              <a:highlight>
                <a:srgbClr val="F5F5F5"/>
              </a:highlight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09875" y="1383225"/>
            <a:ext cx="4362000" cy="10356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pic>
        <p:nvPicPr>
          <p:cNvPr id="125" name="Google Shape;125;p18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209875" y="94000"/>
            <a:ext cx="4970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LIMITACIONES DEL PROYECTO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055350" y="1480575"/>
            <a:ext cx="3369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 integración externa: La aplicación no incluirá integración con wearables (relojes, pulseras) ni con otras aplicaciones de fitness.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18" title="smartwatch-y-movil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975" y="1480575"/>
            <a:ext cx="743375" cy="7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209875" y="2571750"/>
            <a:ext cx="4362000" cy="15222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1055350" y="2571750"/>
            <a:ext cx="33690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Disponibilidad plataforma: La aplicación tendrá compatibilidad tanto en Android como iOS. Sin embargo, en esta fase del proyecto todas las pruebas y validaciones se realizarán únicamente en dispositivos Android, por lo que no se garantiza el correcto funcionamiento en iOS hasta fases posteriores.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18" title="logotipo-de-appl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975" y="2961150"/>
            <a:ext cx="743375" cy="7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4636450" y="1383225"/>
            <a:ext cx="4362000" cy="10356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621725" y="1383213"/>
            <a:ext cx="33690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Alcance geográfico y cultural limitado: En esta primera versión, los planes y recetas estarán adaptados únicamente al contexto de Chile, utilizando idioma y terminología local.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8" title="tierra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6250" y="1480575"/>
            <a:ext cx="743375" cy="7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-1246925" y="94000"/>
            <a:ext cx="103908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41" name="Google Shape;141;p19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209875" y="94000"/>
            <a:ext cx="4425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METODOLOGÍA DE TRABAJO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601650" y="4659025"/>
            <a:ext cx="2334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Gráficos de composición corporal</a:t>
            </a:r>
            <a:endParaRPr sz="13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373484" y="1154875"/>
            <a:ext cx="3031800" cy="10242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pic>
        <p:nvPicPr>
          <p:cNvPr id="146" name="Google Shape;146;p19" title="estrateg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4684" y="1323974"/>
            <a:ext cx="672200" cy="6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6386884" y="1374463"/>
            <a:ext cx="201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Sprint Backlog</a:t>
            </a:r>
            <a:endParaRPr sz="1500">
              <a:solidFill>
                <a:srgbClr val="F5F5F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66BB6A"/>
                </a:solidFill>
                <a:latin typeface="Roboto"/>
                <a:ea typeface="Roboto"/>
                <a:cs typeface="Roboto"/>
                <a:sym typeface="Roboto"/>
              </a:rPr>
              <a:t>Sprint de 2 semanas (5 total)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373484" y="2304925"/>
            <a:ext cx="3031800" cy="10242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pic>
        <p:nvPicPr>
          <p:cNvPr id="149" name="Google Shape;149;p19" title="reunion-de-grup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4684" y="2480925"/>
            <a:ext cx="672200" cy="6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6386884" y="2524513"/>
            <a:ext cx="201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Daily Scrum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8951" y="3960050"/>
            <a:ext cx="1664000" cy="7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3909847" y="1154875"/>
            <a:ext cx="1321800" cy="21813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21F1F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4234597" y="2079725"/>
            <a:ext cx="672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Roles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19" title="grupo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0559" y="1323687"/>
            <a:ext cx="700375" cy="7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>
            <a:off x="1473888" y="1633075"/>
            <a:ext cx="1280700" cy="1224900"/>
          </a:xfrm>
          <a:prstGeom prst="ellipse">
            <a:avLst/>
          </a:prstGeom>
          <a:solidFill>
            <a:srgbClr val="221F1F"/>
          </a:solidFill>
          <a:ln w="9525" cap="flat" cmpd="sng">
            <a:solidFill>
              <a:srgbClr val="22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66BB6A"/>
                </a:solidFill>
                <a:latin typeface="Roboto"/>
                <a:ea typeface="Roboto"/>
                <a:cs typeface="Roboto"/>
                <a:sym typeface="Roboto"/>
              </a:rPr>
              <a:t>Product Backlog</a:t>
            </a:r>
            <a:endParaRPr sz="15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601750" y="1521363"/>
            <a:ext cx="7974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Perfil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198950" y="1124800"/>
            <a:ext cx="18306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Menú adaptativo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2829350" y="1521376"/>
            <a:ext cx="7974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Metas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2829350" y="2149593"/>
            <a:ext cx="11166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Seguimiento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209875" y="2149581"/>
            <a:ext cx="11166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Calendario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2672550" y="2698175"/>
            <a:ext cx="12147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Personalización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34750" y="2698163"/>
            <a:ext cx="10644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Recordatorios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920250" y="3045250"/>
            <a:ext cx="23880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Respuestas contextualizadas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373469" y="3481963"/>
            <a:ext cx="3031800" cy="1024200"/>
          </a:xfrm>
          <a:prstGeom prst="roundRect">
            <a:avLst>
              <a:gd name="adj" fmla="val 16667"/>
            </a:avLst>
          </a:prstGeom>
          <a:solidFill>
            <a:srgbClr val="21212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rgbClr val="F5F5F1"/>
                </a:solidFill>
                <a:latin typeface="Roboto"/>
                <a:ea typeface="Roboto"/>
                <a:cs typeface="Roboto"/>
                <a:sym typeface="Roboto"/>
              </a:rPr>
              <a:t>                    Retro</a:t>
            </a:r>
            <a:endParaRPr sz="1100">
              <a:solidFill>
                <a:srgbClr val="66BB6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19" title="bucle-de-retroalimentac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83818" y="3639275"/>
            <a:ext cx="709574" cy="70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-657775" y="3432525"/>
            <a:ext cx="5944494" cy="143855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5F5F5"/>
                </a:highlight>
              </a:rPr>
              <a:t>                  </a:t>
            </a:r>
            <a:endParaRPr>
              <a:highlight>
                <a:srgbClr val="F5F5F5"/>
              </a:highlight>
            </a:endParaRPr>
          </a:p>
        </p:txBody>
      </p:sp>
      <p:pic>
        <p:nvPicPr>
          <p:cNvPr id="172" name="Google Shape;172;p20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81575" y="0"/>
            <a:ext cx="4425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RELEASE PLAN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74" name="Google Shape;174;p20" title="Release-release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350" y="653308"/>
            <a:ext cx="8777298" cy="4525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title="path2498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81" name="Google Shape;181;p21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ARQUITECTURA DE SOFTWARE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83" name="Google Shape;183;p21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title="Arquitectura-Arquitectura 2.drawio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363" y="1033725"/>
            <a:ext cx="7967275" cy="3445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90" name="Google Shape;190;p22" title="path2498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title="a2903250-cc2f-4335-b772-60d98ed8fc0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MODELO DE DATOS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93" name="Google Shape;193;p22" title="db_fitchi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4503" y="543793"/>
            <a:ext cx="5954975" cy="45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199" name="Google Shape;199;p23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TECNOLOGÍAS UTILIZADAS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202" name="Google Shape;20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3369" y="1287375"/>
            <a:ext cx="1557576" cy="4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 rotWithShape="1">
          <a:blip r:embed="rId6">
            <a:alphaModFix/>
          </a:blip>
          <a:srcRect l="10065" t="36511" r="8168" b="36955"/>
          <a:stretch/>
        </p:blipFill>
        <p:spPr>
          <a:xfrm>
            <a:off x="3384563" y="1307488"/>
            <a:ext cx="1869527" cy="40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7724" y="1307500"/>
            <a:ext cx="2101693" cy="40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9237" y="3411563"/>
            <a:ext cx="2160152" cy="34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22438" y="2340800"/>
            <a:ext cx="1219415" cy="5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01562" y="2238537"/>
            <a:ext cx="1435549" cy="717775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8" name="Google Shape;208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14587" y="3411575"/>
            <a:ext cx="1635115" cy="4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75950" y="2217288"/>
            <a:ext cx="1520525" cy="7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0" y="-16036"/>
            <a:ext cx="9144000" cy="5143500"/>
          </a:xfrm>
          <a:prstGeom prst="rect">
            <a:avLst/>
          </a:prstGeom>
          <a:solidFill>
            <a:srgbClr val="F5F5F5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pic>
        <p:nvPicPr>
          <p:cNvPr id="215" name="Google Shape;215;p24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3305100" y="2287050"/>
            <a:ext cx="253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DEMOSTRACIÓN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1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 dirty="0">
                <a:solidFill>
                  <a:schemeClr val="dk1"/>
                </a:solidFill>
              </a:rPr>
              <a:t>Se desarrolló un sistema de nutrición personalizado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chemeClr val="dk1"/>
                </a:solidFill>
              </a:rPr>
              <a:t>Capaz de calcular calorías y macronutrientes según los datos individuales de cada usuario.</a:t>
            </a:r>
            <a:br>
              <a:rPr lang="e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 dirty="0">
                <a:solidFill>
                  <a:schemeClr val="dk1"/>
                </a:solidFill>
              </a:rPr>
              <a:t>Se implementó el módulo de perfil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chemeClr val="dk1"/>
                </a:solidFill>
              </a:rPr>
              <a:t>Donde el usuario puede registrar edad, peso, altura, enfermedades y preferencias alimentarias.</a:t>
            </a:r>
            <a:br>
              <a:rPr lang="e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 dirty="0">
                <a:solidFill>
                  <a:schemeClr val="dk1"/>
                </a:solidFill>
              </a:rPr>
              <a:t>Se consolidaron los datos antropométricos y nutricionales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chemeClr val="dk1"/>
                </a:solidFill>
              </a:rPr>
              <a:t>En una base de datos unificada (Supabase) para análisis y seguimiento.</a:t>
            </a:r>
            <a:br>
              <a:rPr lang="e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 dirty="0">
                <a:solidFill>
                  <a:schemeClr val="dk1"/>
                </a:solidFill>
              </a:rPr>
              <a:t>Se implementó un calendario y registro de progreso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chemeClr val="dk1"/>
                </a:solidFill>
              </a:rPr>
              <a:t>Que permite visualizar métricas y evolución semanal del usuario.</a:t>
            </a:r>
            <a:br>
              <a:rPr lang="es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 dirty="0">
                <a:solidFill>
                  <a:schemeClr val="dk1"/>
                </a:solidFill>
              </a:rPr>
              <a:t>Se obtuvo un MVP funcional y estable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chemeClr val="dk1"/>
                </a:solidFill>
              </a:rPr>
              <a:t>Cumpliendo los objetivos propuestos y dejando la base para incorporar inteligencia artificial en futuras versiones.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23" name="Google Shape;223;p25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RESULTADOS OBTENIDOS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/>
          <p:nvPr/>
        </p:nvSpPr>
        <p:spPr>
          <a:xfrm>
            <a:off x="0" y="-12"/>
            <a:ext cx="9144000" cy="5143500"/>
          </a:xfrm>
          <a:prstGeom prst="rect">
            <a:avLst/>
          </a:prstGeom>
          <a:solidFill>
            <a:srgbClr val="F5F5F1"/>
          </a:solidFill>
          <a:ln w="9525" cap="flat" cmpd="sng">
            <a:solidFill>
              <a:srgbClr val="F5F5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chemeClr val="dk1"/>
                </a:solidFill>
              </a:rPr>
              <a:t>Curva de aprendizaje técnica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Especialmente al integrar FastAPI y  Supabase.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chemeClr val="dk1"/>
                </a:solidFill>
              </a:rPr>
              <a:t>Dificultades en la conexión entre backend y frontend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Que requirieron reestructurar parte del flujo de datos.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chemeClr val="dk1"/>
                </a:solidFill>
              </a:rPr>
              <a:t>Gestión del diseño de interfaz (UI/UX)</a:t>
            </a:r>
            <a:r>
              <a:rPr lang="es" sz="1100">
                <a:solidFill>
                  <a:schemeClr val="dk1"/>
                </a:solidFill>
              </a:rPr>
              <a:t>: 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Ajustes repetitivos para lograr una experiencia fluida y coherente.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chemeClr val="dk1"/>
                </a:solidFill>
              </a:rPr>
              <a:t>Falta de datos reales de usuarios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Lo que obligó a usar información simulada para probar los cálculos nutricionales.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chemeClr val="dk1"/>
                </a:solidFill>
              </a:rPr>
              <a:t>Dificultades con respuestas de la IA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Ajustes en los prompts para que la IA pudiera entregar mejores respuestas.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31" name="Google Shape;231;p26" title="a2903250-cc2f-4335-b772-60d98ed8fc05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325" y="99775"/>
            <a:ext cx="3369125" cy="5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 title="path2498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25" y="4479275"/>
            <a:ext cx="49869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209875" y="94000"/>
            <a:ext cx="4834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OBSTÁCULOS</a:t>
            </a:r>
            <a:endParaRPr sz="2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Presentación en pantalla (16:9)</PresentationFormat>
  <Paragraphs>89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Roboto Medium</vt:lpstr>
      <vt:lpstr>Roboto Mono Medium</vt:lpstr>
      <vt:lpstr>Roboto</vt:lpstr>
      <vt:lpstr>Roboto Mono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Jean Castillo</cp:lastModifiedBy>
  <cp:revision>1</cp:revision>
  <dcterms:modified xsi:type="dcterms:W3CDTF">2025-12-05T19:04:26Z</dcterms:modified>
</cp:coreProperties>
</file>